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Sales</c:v>
                  </c:pt>
                  <c:pt idx="2">
                    <c:v>HR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</c:v>
                </c:pt>
                <c:pt idx="1">
                  <c:v>92</c:v>
                </c:pt>
                <c:pt idx="2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by Age Band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Under 25</c:v>
                  </c:pt>
                  <c:pt idx="1">
                    <c:v>25–34</c:v>
                  </c:pt>
                  <c:pt idx="2">
                    <c:v>35–44</c:v>
                  </c:pt>
                  <c:pt idx="3">
                    <c:v>45–54</c:v>
                  </c:pt>
                  <c:pt idx="4">
                    <c:v>Over 55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112</c:v>
                </c:pt>
                <c:pt idx="2">
                  <c:v>51</c:v>
                </c:pt>
                <c:pt idx="3">
                  <c:v>25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 (150)</c:v>
                </c:pt>
                <c:pt idx="1">
                  <c:v>Female (87)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150</c:v>
                </c:pt>
                <c:pt idx="1">
                  <c:v>87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Count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Laboratory Technician</c:v>
                  </c:pt>
                  <c:pt idx="1">
                    <c:v>Sales Executive</c:v>
                  </c:pt>
                  <c:pt idx="2">
                    <c:v>Research Scientist</c:v>
                  </c:pt>
                  <c:pt idx="3">
                    <c:v>Sales Representative</c:v>
                  </c:pt>
                  <c:pt idx="4">
                    <c:v>Human Resources</c:v>
                  </c:pt>
                  <c:pt idx="5">
                    <c:v>Manufacturing Director</c:v>
                  </c:pt>
                  <c:pt idx="6">
                    <c:v>Healthcare Representative</c:v>
                  </c:pt>
                  <c:pt idx="7">
                    <c:v>Manager</c:v>
                  </c:pt>
                  <c:pt idx="8">
                    <c:v>Research Director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62</c:v>
                </c:pt>
                <c:pt idx="1">
                  <c:v>57</c:v>
                </c:pt>
                <c:pt idx="2">
                  <c:v>47</c:v>
                </c:pt>
                <c:pt idx="3">
                  <c:v>33</c:v>
                </c:pt>
                <c:pt idx="4">
                  <c:v>12</c:v>
                </c:pt>
                <c:pt idx="5">
                  <c:v>10</c:v>
                </c:pt>
                <c:pt idx="6">
                  <c:v>9</c:v>
                </c:pt>
                <c:pt idx="7">
                  <c:v>5</c:v>
                </c:pt>
                <c:pt idx="8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Overtime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Works Overtime (127)</c:v>
                </c:pt>
                <c:pt idx="1">
                  <c:v>No Overtime (110)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127</c:v>
                </c:pt>
                <c:pt idx="1">
                  <c:v>110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Single</c:v>
                  </c:pt>
                  <c:pt idx="1">
                    <c:v>Married</c:v>
                  </c:pt>
                  <c:pt idx="2">
                    <c:v>Divorced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84</c:v>
                </c:pt>
                <c:pt idx="2">
                  <c:v>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by Education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Life Sciences</c:v>
                  </c:pt>
                  <c:pt idx="1">
                    <c:v>Medical</c:v>
                  </c:pt>
                  <c:pt idx="2">
                    <c:v>Marketing</c:v>
                  </c:pt>
                  <c:pt idx="3">
                    <c:v>Technical</c:v>
                  </c:pt>
                  <c:pt idx="4">
                    <c:v>Other</c:v>
                  </c:pt>
                  <c:pt idx="5">
                    <c:v>HR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</c:v>
                </c:pt>
                <c:pt idx="1">
                  <c:v>63</c:v>
                </c:pt>
                <c:pt idx="2">
                  <c:v>35</c:v>
                </c:pt>
                <c:pt idx="3">
                  <c:v>32</c:v>
                </c:pt>
                <c:pt idx="4">
                  <c:v>11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Job Satisfaction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bubble3D val="0"/>
            <c:spPr>
              <a:solidFill>
                <a:srgbClr val="05966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Very Low (1)</c:v>
                </c:pt>
                <c:pt idx="1">
                  <c:v>Low (2)</c:v>
                </c:pt>
                <c:pt idx="2">
                  <c:v>Medium (3)</c:v>
                </c:pt>
                <c:pt idx="3">
                  <c:v>High (4)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65</c:v>
                </c:pt>
                <c:pt idx="1">
                  <c:v>54</c:v>
                </c:pt>
                <c:pt idx="2">
                  <c:v>62</c:v>
                </c:pt>
                <c:pt idx="3">
                  <c:v>56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109728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HR Employee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</a:rPr>
              <a:t>Attrition Analysis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Understanding why employees leave — and how to retain them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155448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644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1,470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6850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Total Employees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23160" y="3246120"/>
            <a:ext cx="155448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32644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237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23160" y="36850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Attrited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60520" y="3246120"/>
            <a:ext cx="1554480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32644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16.1%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160520" y="36850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Attrition Rate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43434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Presented by: Aniket Bhosale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457200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IBM HR Analytics Dataset  |  2024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457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Overview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1,470 employee records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46 HR attributes analyzed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Covers age, income, role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Satisfaction metrics included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Business travel &amp; overtime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Dept: HR, R&amp;D, Sales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Problem &amp; Project 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What we set out to solve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HR Attrition Analysis  |  Presented by Aniket Bhosale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14800" cy="3566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Business Problem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5544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Q1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High employee turnover is costing organizations thousands in recruitment, training &amp; lost productivity.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30428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Q2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HR teams lack visibility into which segments are most at risk of leaving.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054096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Q3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No data-driven approach exists to proactively intervene before attrition occurs.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803904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Q4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Management needs actionable KPIs to monitor workforce health in real time.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Project Agenda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572768"/>
            <a:ext cx="402336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572768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30368" y="15727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KPI Overview &amp; Summary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066544"/>
            <a:ext cx="402336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066544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30368" y="206654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Department-wise Attrition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560320"/>
            <a:ext cx="402336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560320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30368" y="256032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Demographics: Age &amp; Gender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054096"/>
            <a:ext cx="402336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054096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30368" y="305409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Job Role Analysis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547872"/>
            <a:ext cx="402336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547872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30368" y="35478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Satisfaction &amp; Overtime Impact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4041648"/>
            <a:ext cx="402336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041648"/>
            <a:ext cx="402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30368" y="404164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Key Insights &amp;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Performance Indicators (KPIs)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Top-level workforce metrics at a glance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HR Attrition Analysis  |  Presented by Aniket Bhosale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201168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05840"/>
            <a:ext cx="91440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05840"/>
            <a:ext cx="187452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1,470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722730"/>
            <a:ext cx="187452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Employees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04872" y="1005840"/>
            <a:ext cx="2011680" cy="128016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04872" y="1005840"/>
            <a:ext cx="91440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005840"/>
            <a:ext cx="187452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1,233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42032" y="1722730"/>
            <a:ext cx="187452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Active Employees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81144" y="1005840"/>
            <a:ext cx="2011680" cy="12801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81144" y="1005840"/>
            <a:ext cx="91440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005840"/>
            <a:ext cx="187452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237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18304" y="1722730"/>
            <a:ext cx="187452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Attrited Employees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57416" y="1005840"/>
            <a:ext cx="2011680" cy="12801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57416" y="1005840"/>
            <a:ext cx="91440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005840"/>
            <a:ext cx="187452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16.1%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94576" y="1722730"/>
            <a:ext cx="187452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Attrition 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560320"/>
            <a:ext cx="2011680" cy="128016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560320"/>
            <a:ext cx="91440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560320"/>
            <a:ext cx="187452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891B2"/>
                </a:solidFill>
              </a:rPr>
              <a:t>36.9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65760" y="3277210"/>
            <a:ext cx="187452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Employee 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04872" y="2560320"/>
            <a:ext cx="201168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04872" y="2560320"/>
            <a:ext cx="91440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42032" y="2560320"/>
            <a:ext cx="187452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$6,503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542032" y="3277210"/>
            <a:ext cx="187452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Monthly Income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81144" y="2560320"/>
            <a:ext cx="2011680" cy="12801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81144" y="2560320"/>
            <a:ext cx="91440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2560320"/>
            <a:ext cx="187452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20.6%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718304" y="3277210"/>
            <a:ext cx="187452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Sales Dept (Highest)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57416" y="2560320"/>
            <a:ext cx="2011680" cy="128016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57416" y="2560320"/>
            <a:ext cx="91440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94576" y="2560320"/>
            <a:ext cx="187452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13.8%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894576" y="3277210"/>
            <a:ext cx="187452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R&amp;D Dept (Lowest)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4279392"/>
            <a:ext cx="86868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2793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💡  Insight: Sales department shows highest attrition (20.6%). Overtime workers are 54% of attrited employees. Single employees leave most.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Attrition by Department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Which departments are losing the most talent?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HR Attrition Analysis  |  Presented by Aniket Bhosale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9144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960120"/>
            <a:ext cx="3017520" cy="107899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52160" y="960120"/>
            <a:ext cx="91440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101498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Sales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89320" y="130759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Attrited: 92 of 446 employees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89320" y="153619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Attrition Rate: 20.6%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2194560"/>
            <a:ext cx="3017520" cy="107899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52160" y="2194560"/>
            <a:ext cx="91440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224942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HR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89320" y="254203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Attrited: 12 of 63 employees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89320" y="277063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Attrition Rate: 19.0%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52160" y="3429000"/>
            <a:ext cx="3017520" cy="107899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852160" y="3429000"/>
            <a:ext cx="91440" cy="10789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9320" y="348386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R&amp;D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89320" y="37764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Attrited: 133 of 961 employees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89320" y="400507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Attrition Rate: 13.8%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28600" y="45262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💡 Business Q: Why does Sales have the highest attrition rate (20.6%)?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Demographics: Age &amp; Gender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Who is leaving — age groups and gender breakdown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HR Attrition Analysis  |  Presented by Aniket Bhosale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96012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5577840" y="960120"/>
          <a:ext cx="32918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577840" y="3337560"/>
            <a:ext cx="3291840" cy="53035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623560" y="33375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🔑  25–34 age group accounts for 47% of all attritions — the highest risk segment.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577840" y="3931920"/>
            <a:ext cx="329184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623560" y="393192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🔑  Males leave more in absolute count (150), but female rate is also significant (37%).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Attrition by Job Role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Which roles have the highest turnover?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HR Attrition Analysis  |  Presented by Aniket Bhosale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9144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943600" y="9144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Top Risk Roles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926080" cy="8412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371600"/>
            <a:ext cx="91440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14173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#1 HIGHEST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080760" y="16276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Laboratory Technician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080760" y="19019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62 employees left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2377440"/>
            <a:ext cx="2926080" cy="84124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0" y="2377440"/>
            <a:ext cx="91440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242316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#2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080760" y="26334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Sales Executive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080760" y="29077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57 employees left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943600" y="3383280"/>
            <a:ext cx="2926080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0" y="3383280"/>
            <a:ext cx="9144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34290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#3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80760" y="36393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Research Scientist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080760" y="391363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47 employees left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28600" y="452628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💡 Business Q: Why are Lab Technicians &amp; Sales Executives the most vulnerable roles?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Overtime &amp; Marital Status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Work-life factors driving attrition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HR Attrition Analysis  |  Presented by Aniket Bhosale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96012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4389120" y="960120"/>
          <a:ext cx="4480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228600" y="3886200"/>
            <a:ext cx="2788920" cy="68580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28600" y="3886200"/>
            <a:ext cx="82296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56616" y="39136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54% Overtime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56616" y="412394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Overtime workers make up 54% of all attritions — burnout is a core driver.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172968" y="3886200"/>
            <a:ext cx="278892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72968" y="3886200"/>
            <a:ext cx="82296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00984" y="39136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Single Employees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300984" y="412394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120 single employees left — they may have fewer financial commitments holding them back.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117336" y="3886200"/>
            <a:ext cx="278892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17336" y="3886200"/>
            <a:ext cx="82296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45352" y="39136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Business Travel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245352" y="412394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69 frequent travellers left vs 156 rare travellers — travel stress adds up.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Education Field &amp; Job Satisfaction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Is education background linked to attrition?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HR Attrition Analysis  |  Presented by Aniket Bhosale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96012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5486400" y="960120"/>
          <a:ext cx="33832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5486400" y="3703320"/>
            <a:ext cx="3383280" cy="62179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532120" y="370332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⚠️  28% of attrited employees had very low job satisfaction (score 1). Life Sciences &amp; Medical backgrounds show highest attrition counts.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Questions &amp; Answers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Data-driven answers to HR leadership questions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56048"/>
            <a:ext cx="8778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HR Attrition Analysis  |  Presented by Aniket Bhosale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4224528" cy="10972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05840"/>
            <a:ext cx="91440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" y="106070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Q1. What is the overall attrition rate?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" y="135331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16.1% (237 out of 1,470 employees). This is significantly above the healthy 10% benchmark.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1005840"/>
            <a:ext cx="4224528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1005840"/>
            <a:ext cx="91440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106070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Q2. Which department has the highest risk?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37176" y="135331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Sales department at 20.6%, followed by HR at 19.0%. Immediate intervention needed.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240280"/>
            <a:ext cx="4224528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240280"/>
            <a:ext cx="9144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22951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Q3. Which age group is most at risk?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" y="258775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Employees aged 25–34 account for 47% of all attritions. Early-career retention is critical.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2240280"/>
            <a:ext cx="4224528" cy="10972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2240280"/>
            <a:ext cx="91440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229514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Q4. Does overtime drive attrition?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37176" y="258775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Yes — 54% of attrited employees worked overtime. Work-life balance is a top predictor.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474720"/>
            <a:ext cx="4224528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474720"/>
            <a:ext cx="91440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" y="352958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Q5. Which job role needs most attention?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4904" y="382219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Laboratory Technicians (62) and Sales Executives (57) are highest-attrition roles.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3474720"/>
            <a:ext cx="4224528" cy="1097280"/>
          </a:xfrm>
          <a:prstGeom prst="rect">
            <a:avLst/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3474720"/>
            <a:ext cx="91440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37176" y="352958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Q6. Does marital status influence attrition?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37176" y="382219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Single employees leave most (120), suggesting lifestyle flexibility impacts retention.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Recommendations &amp;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68680"/>
            <a:ext cx="278892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96012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⏱  Reduce Overtime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3258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Cap mandatory overtime. Introduce flexible hours. Monitor burnout signals in Sales &amp; R&amp;D.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868680"/>
            <a:ext cx="278892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82696" y="96012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📈  Early Career Retention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82696" y="13258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Mentorship programs for 25–34 age group. Offer clear growth paths to prevent early exits.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17336" y="868680"/>
            <a:ext cx="278892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7064" y="96012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💼  Sales Dept Strategy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27064" y="13258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Revisit sales targets, commission structure &amp; workload. Exit interviews to uncover root causes.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807208"/>
            <a:ext cx="278892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289864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🔬  Lab Technician Support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" y="326440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Competitive salary benchmarking &amp; career progression for Lab Technicians.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72968" y="2807208"/>
            <a:ext cx="278892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289864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📊  Satisfaction Surveys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82696" y="326440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Quarterly pulse surveys to track satisfaction scores and take proactive action.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17336" y="2807208"/>
            <a:ext cx="2788920" cy="16916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289864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🤖  Predictive HR Analytics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27064" y="3264408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Build attrition prediction models to identify at-risk employees before they resign.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736592"/>
            <a:ext cx="868680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Presented by Aniket Bhosale  |  HR Attrition Analysis Project  |  IBM HR Analytics Dataset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Employee Attrition Analysis</dc:title>
  <dc:subject>PptxGenJS Presentation</dc:subject>
  <dc:creator>Aniket Bhosale</dc:creator>
  <cp:lastModifiedBy>Aniket Bhosale</cp:lastModifiedBy>
  <cp:revision>1</cp:revision>
  <dcterms:created xsi:type="dcterms:W3CDTF">2026-03-30T04:49:47Z</dcterms:created>
  <dcterms:modified xsi:type="dcterms:W3CDTF">2026-03-30T04:49:47Z</dcterms:modified>
</cp:coreProperties>
</file>